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notesMasterIdLst>
    <p:notesMasterId r:id="rId8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notesMaster" Target="notesMasters/notesMaster1.xml"/><Relationship Id="rId9" Type="http://schemas.openxmlformats.org/officeDocument/2006/relationships/presProps" Target="presProps.xml"/><Relationship Id="rId10" Type="http://schemas.openxmlformats.org/officeDocument/2006/relationships/viewProps" Target="viewProps.xml"/><Relationship Id="rId11" Type="http://schemas.openxmlformats.org/officeDocument/2006/relationships/theme" Target="theme/theme1.xml"/><Relationship Id="rId1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B2E3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731520" y="2286000"/>
            <a:ext cx="106984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400" b="1" dirty="0">
                <a:solidFill>
                  <a:srgbClr val="F4FAF9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AskMySales</a:t>
            </a:r>
            <a:endParaRPr lang="en-US" sz="5400" dirty="0"/>
          </a:p>
        </p:txBody>
      </p:sp>
      <p:sp>
        <p:nvSpPr>
          <p:cNvPr id="3" name="Text 1"/>
          <p:cNvSpPr txBox="1"/>
          <p:nvPr/>
        </p:nvSpPr>
        <p:spPr>
          <a:xfrm>
            <a:off x="731520" y="3291840"/>
            <a:ext cx="10698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i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Conversational analytics on Exasol — ask a question, get an answer, live.</a:t>
            </a:r>
            <a:endParaRPr lang="en-US" sz="2000" dirty="0"/>
          </a:p>
        </p:txBody>
      </p:sp>
      <p:sp>
        <p:nvSpPr>
          <p:cNvPr id="4" name="Text 2"/>
          <p:cNvSpPr txBox="1"/>
          <p:nvPr/>
        </p:nvSpPr>
        <p:spPr>
          <a:xfrm>
            <a:off x="731520" y="6035040"/>
            <a:ext cx="10698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8FBF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Exasol AI + Data Challenge 2026  ·  Track: Build Intelligent Data Experiences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9692640" y="914400"/>
            <a:ext cx="457200" cy="457200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6" name="Text 4"/>
          <p:cNvSpPr/>
          <p:nvPr/>
        </p:nvSpPr>
        <p:spPr>
          <a:xfrm>
            <a:off x="9692640" y="91440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📊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4FA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5720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3272A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Getting an answer from your data takes too long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640080" y="1645920"/>
            <a:ext cx="822960" cy="822960"/>
          </a:xfrm>
          <a:prstGeom prst="ellipse">
            <a:avLst/>
          </a:prstGeom>
          <a:solidFill>
            <a:srgbClr val="00A896"/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1645920"/>
            <a:ext cx="8229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52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❓</a:t>
            </a:r>
            <a:endParaRPr lang="en-US" sz="2520" dirty="0"/>
          </a:p>
        </p:txBody>
      </p:sp>
      <p:sp>
        <p:nvSpPr>
          <p:cNvPr id="5" name="Text 3"/>
          <p:cNvSpPr txBox="1"/>
          <p:nvPr/>
        </p:nvSpPr>
        <p:spPr>
          <a:xfrm>
            <a:off x="1737360" y="1600200"/>
            <a:ext cx="9601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32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business user has a question</a:t>
            </a:r>
            <a:endParaRPr lang="en-US" sz="2000" dirty="0"/>
          </a:p>
        </p:txBody>
      </p:sp>
      <p:sp>
        <p:nvSpPr>
          <p:cNvPr id="6" name="Text 4"/>
          <p:cNvSpPr txBox="1"/>
          <p:nvPr/>
        </p:nvSpPr>
        <p:spPr>
          <a:xfrm>
            <a:off x="1737360" y="2057400"/>
            <a:ext cx="9601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4560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"Which region is underperforming this month?"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640080" y="3017520"/>
            <a:ext cx="822960" cy="822960"/>
          </a:xfrm>
          <a:prstGeom prst="ellipse">
            <a:avLst/>
          </a:prstGeom>
          <a:solidFill>
            <a:srgbClr val="00A896"/>
          </a:solidFill>
          <a:ln/>
        </p:spPr>
      </p:sp>
      <p:sp>
        <p:nvSpPr>
          <p:cNvPr id="8" name="Text 6"/>
          <p:cNvSpPr/>
          <p:nvPr/>
        </p:nvSpPr>
        <p:spPr>
          <a:xfrm>
            <a:off x="640080" y="3017520"/>
            <a:ext cx="8229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52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⏳</a:t>
            </a:r>
            <a:endParaRPr lang="en-US" sz="2520" dirty="0"/>
          </a:p>
        </p:txBody>
      </p:sp>
      <p:sp>
        <p:nvSpPr>
          <p:cNvPr id="9" name="Text 7"/>
          <p:cNvSpPr txBox="1"/>
          <p:nvPr/>
        </p:nvSpPr>
        <p:spPr>
          <a:xfrm>
            <a:off x="1737360" y="2971800"/>
            <a:ext cx="9601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32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 waits in a queue</a:t>
            </a:r>
            <a:endParaRPr lang="en-US" sz="2000" dirty="0"/>
          </a:p>
        </p:txBody>
      </p:sp>
      <p:sp>
        <p:nvSpPr>
          <p:cNvPr id="10" name="Text 8"/>
          <p:cNvSpPr txBox="1"/>
          <p:nvPr/>
        </p:nvSpPr>
        <p:spPr>
          <a:xfrm>
            <a:off x="1737360" y="3429000"/>
            <a:ext cx="9601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4560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Analysts are busy; SQL is a barrier for most teams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640080" y="4389120"/>
            <a:ext cx="822960" cy="822960"/>
          </a:xfrm>
          <a:prstGeom prst="ellipse">
            <a:avLst/>
          </a:prstGeom>
          <a:solidFill>
            <a:srgbClr val="00A896"/>
          </a:solidFill>
          <a:ln/>
        </p:spPr>
      </p:sp>
      <p:sp>
        <p:nvSpPr>
          <p:cNvPr id="12" name="Text 10"/>
          <p:cNvSpPr/>
          <p:nvPr/>
        </p:nvSpPr>
        <p:spPr>
          <a:xfrm>
            <a:off x="640080" y="4389120"/>
            <a:ext cx="8229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52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📉</a:t>
            </a:r>
            <a:endParaRPr lang="en-US" sz="2520" dirty="0"/>
          </a:p>
        </p:txBody>
      </p:sp>
      <p:sp>
        <p:nvSpPr>
          <p:cNvPr id="13" name="Text 11"/>
          <p:cNvSpPr txBox="1"/>
          <p:nvPr/>
        </p:nvSpPr>
        <p:spPr>
          <a:xfrm>
            <a:off x="1737360" y="4343400"/>
            <a:ext cx="9601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32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By the time there's an answer,</a:t>
            </a:r>
            <a:endParaRPr lang="en-US" sz="2000" dirty="0"/>
          </a:p>
        </p:txBody>
      </p:sp>
      <p:sp>
        <p:nvSpPr>
          <p:cNvPr id="14" name="Text 12"/>
          <p:cNvSpPr txBox="1"/>
          <p:nvPr/>
        </p:nvSpPr>
        <p:spPr>
          <a:xfrm>
            <a:off x="1737360" y="4800600"/>
            <a:ext cx="9601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4560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moment to act on it has often passed</a:t>
            </a:r>
            <a:endParaRPr lang="en-US" sz="14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4FA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5720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3272A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Ask in plain English. Get the answer live from Exasol.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548640" y="1920240"/>
            <a:ext cx="2606040" cy="3291840"/>
          </a:xfrm>
          <a:prstGeom prst="roundRect">
            <a:avLst>
              <a:gd name="adj" fmla="val 4211"/>
            </a:avLst>
          </a:prstGeom>
          <a:solidFill>
            <a:srgbClr val="FFFFFF"/>
          </a:solidFill>
          <a:ln w="12700">
            <a:solidFill>
              <a:srgbClr val="D6EFEC"/>
            </a:solidFill>
            <a:prstDash val="solid"/>
          </a:ln>
          <a:effectLst>
            <a:outerShdw sx="100000" sy="100000" kx="0" ky="0" algn="bl" rotWithShape="0" blurRad="76200" dist="25400" dir="5400000">
              <a:srgbClr val="1E2761">
                <a:alpha val="12000"/>
              </a:srgbClr>
            </a:outerShdw>
          </a:effectLst>
        </p:spPr>
      </p:sp>
      <p:sp>
        <p:nvSpPr>
          <p:cNvPr id="4" name="Text 2"/>
          <p:cNvSpPr txBox="1"/>
          <p:nvPr/>
        </p:nvSpPr>
        <p:spPr>
          <a:xfrm>
            <a:off x="548640" y="2194560"/>
            <a:ext cx="26060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💬</a:t>
            </a:r>
            <a:endParaRPr lang="en-US" sz="3400" dirty="0"/>
          </a:p>
        </p:txBody>
      </p:sp>
      <p:sp>
        <p:nvSpPr>
          <p:cNvPr id="5" name="Text 3"/>
          <p:cNvSpPr txBox="1"/>
          <p:nvPr/>
        </p:nvSpPr>
        <p:spPr>
          <a:xfrm>
            <a:off x="685800" y="3063240"/>
            <a:ext cx="2331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28090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Ask</a:t>
            </a:r>
            <a:endParaRPr lang="en-US" sz="1800" dirty="0"/>
          </a:p>
        </p:txBody>
      </p:sp>
      <p:sp>
        <p:nvSpPr>
          <p:cNvPr id="6" name="Text 4"/>
          <p:cNvSpPr txBox="1"/>
          <p:nvPr/>
        </p:nvSpPr>
        <p:spPr>
          <a:xfrm>
            <a:off x="731520" y="3566160"/>
            <a:ext cx="224028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4560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Type a question in plain English — no SQL required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3383280" y="1920240"/>
            <a:ext cx="2606040" cy="3291840"/>
          </a:xfrm>
          <a:prstGeom prst="roundRect">
            <a:avLst>
              <a:gd name="adj" fmla="val 4211"/>
            </a:avLst>
          </a:prstGeom>
          <a:solidFill>
            <a:srgbClr val="FFFFFF"/>
          </a:solidFill>
          <a:ln w="12700">
            <a:solidFill>
              <a:srgbClr val="D6EFEC"/>
            </a:solidFill>
            <a:prstDash val="solid"/>
          </a:ln>
          <a:effectLst>
            <a:outerShdw sx="100000" sy="100000" kx="0" ky="0" algn="bl" rotWithShape="0" blurRad="76200" dist="25400" dir="5400000">
              <a:srgbClr val="1E2761">
                <a:alpha val="12000"/>
              </a:srgbClr>
            </a:outerShdw>
          </a:effectLst>
        </p:spPr>
      </p:sp>
      <p:sp>
        <p:nvSpPr>
          <p:cNvPr id="8" name="Text 6"/>
          <p:cNvSpPr txBox="1"/>
          <p:nvPr/>
        </p:nvSpPr>
        <p:spPr>
          <a:xfrm>
            <a:off x="3383280" y="2194560"/>
            <a:ext cx="26060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🧠</a:t>
            </a:r>
            <a:endParaRPr lang="en-US" sz="3400" dirty="0"/>
          </a:p>
        </p:txBody>
      </p:sp>
      <p:sp>
        <p:nvSpPr>
          <p:cNvPr id="9" name="Text 7"/>
          <p:cNvSpPr txBox="1"/>
          <p:nvPr/>
        </p:nvSpPr>
        <p:spPr>
          <a:xfrm>
            <a:off x="3520440" y="3063240"/>
            <a:ext cx="2331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28090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Translate</a:t>
            </a:r>
            <a:endParaRPr lang="en-US" sz="1800" dirty="0"/>
          </a:p>
        </p:txBody>
      </p:sp>
      <p:sp>
        <p:nvSpPr>
          <p:cNvPr id="10" name="Text 8"/>
          <p:cNvSpPr txBox="1"/>
          <p:nvPr/>
        </p:nvSpPr>
        <p:spPr>
          <a:xfrm>
            <a:off x="3566160" y="3566160"/>
            <a:ext cx="224028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4560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Claude turns it into a safe, read-only SQL query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6217920" y="1920240"/>
            <a:ext cx="2606040" cy="3291840"/>
          </a:xfrm>
          <a:prstGeom prst="roundRect">
            <a:avLst>
              <a:gd name="adj" fmla="val 4211"/>
            </a:avLst>
          </a:prstGeom>
          <a:solidFill>
            <a:srgbClr val="FFFFFF"/>
          </a:solidFill>
          <a:ln w="12700">
            <a:solidFill>
              <a:srgbClr val="D6EFEC"/>
            </a:solidFill>
            <a:prstDash val="solid"/>
          </a:ln>
          <a:effectLst>
            <a:outerShdw sx="100000" sy="100000" kx="0" ky="0" algn="bl" rotWithShape="0" blurRad="76200" dist="25400" dir="5400000">
              <a:srgbClr val="1E2761">
                <a:alpha val="12000"/>
              </a:srgbClr>
            </a:outerShdw>
          </a:effectLst>
        </p:spPr>
      </p:sp>
      <p:sp>
        <p:nvSpPr>
          <p:cNvPr id="12" name="Text 10"/>
          <p:cNvSpPr txBox="1"/>
          <p:nvPr/>
        </p:nvSpPr>
        <p:spPr>
          <a:xfrm>
            <a:off x="6217920" y="2194560"/>
            <a:ext cx="26060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⚡</a:t>
            </a:r>
            <a:endParaRPr lang="en-US" sz="3400" dirty="0"/>
          </a:p>
        </p:txBody>
      </p:sp>
      <p:sp>
        <p:nvSpPr>
          <p:cNvPr id="13" name="Text 11"/>
          <p:cNvSpPr txBox="1"/>
          <p:nvPr/>
        </p:nvSpPr>
        <p:spPr>
          <a:xfrm>
            <a:off x="6355080" y="3063240"/>
            <a:ext cx="2331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28090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Run</a:t>
            </a:r>
            <a:endParaRPr lang="en-US" sz="1800" dirty="0"/>
          </a:p>
        </p:txBody>
      </p:sp>
      <p:sp>
        <p:nvSpPr>
          <p:cNvPr id="14" name="Text 12"/>
          <p:cNvSpPr txBox="1"/>
          <p:nvPr/>
        </p:nvSpPr>
        <p:spPr>
          <a:xfrm>
            <a:off x="6400800" y="3566160"/>
            <a:ext cx="224028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4560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Exasol executes it live against raw data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9052560" y="1920240"/>
            <a:ext cx="2606040" cy="3291840"/>
          </a:xfrm>
          <a:prstGeom prst="roundRect">
            <a:avLst>
              <a:gd name="adj" fmla="val 4211"/>
            </a:avLst>
          </a:prstGeom>
          <a:solidFill>
            <a:srgbClr val="FFFFFF"/>
          </a:solidFill>
          <a:ln w="12700">
            <a:solidFill>
              <a:srgbClr val="D6EFEC"/>
            </a:solidFill>
            <a:prstDash val="solid"/>
          </a:ln>
          <a:effectLst>
            <a:outerShdw sx="100000" sy="100000" kx="0" ky="0" algn="bl" rotWithShape="0" blurRad="76200" dist="25400" dir="5400000">
              <a:srgbClr val="1E2761">
                <a:alpha val="12000"/>
              </a:srgbClr>
            </a:outerShdw>
          </a:effectLst>
        </p:spPr>
      </p:sp>
      <p:sp>
        <p:nvSpPr>
          <p:cNvPr id="16" name="Text 14"/>
          <p:cNvSpPr txBox="1"/>
          <p:nvPr/>
        </p:nvSpPr>
        <p:spPr>
          <a:xfrm>
            <a:off x="9052560" y="2194560"/>
            <a:ext cx="26060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🔍</a:t>
            </a:r>
            <a:endParaRPr lang="en-US" sz="3400" dirty="0"/>
          </a:p>
        </p:txBody>
      </p:sp>
      <p:sp>
        <p:nvSpPr>
          <p:cNvPr id="17" name="Text 15"/>
          <p:cNvSpPr txBox="1"/>
          <p:nvPr/>
        </p:nvSpPr>
        <p:spPr>
          <a:xfrm>
            <a:off x="9189720" y="3063240"/>
            <a:ext cx="2331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28090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Notice</a:t>
            </a:r>
            <a:endParaRPr lang="en-US" sz="1800" dirty="0"/>
          </a:p>
        </p:txBody>
      </p:sp>
      <p:sp>
        <p:nvSpPr>
          <p:cNvPr id="18" name="Text 16"/>
          <p:cNvSpPr txBox="1"/>
          <p:nvPr/>
        </p:nvSpPr>
        <p:spPr>
          <a:xfrm>
            <a:off x="9235440" y="3566160"/>
            <a:ext cx="224028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4560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app flags anomalies in the results automatically</a:t>
            </a:r>
            <a:endParaRPr lang="en-US" sz="13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4FA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57200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3272A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How it works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548640" y="2743200"/>
            <a:ext cx="2377440" cy="1371600"/>
          </a:xfrm>
          <a:prstGeom prst="roundRect">
            <a:avLst>
              <a:gd name="adj" fmla="val 6667"/>
            </a:avLst>
          </a:prstGeom>
          <a:solidFill>
            <a:srgbClr val="028090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640080" y="2743200"/>
            <a:ext cx="219456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 question</a:t>
            </a:r>
            <a:endParaRPr lang="en-US" sz="1500" dirty="0"/>
          </a:p>
        </p:txBody>
      </p:sp>
      <p:sp>
        <p:nvSpPr>
          <p:cNvPr id="5" name="Text 3"/>
          <p:cNvSpPr txBox="1"/>
          <p:nvPr/>
        </p:nvSpPr>
        <p:spPr>
          <a:xfrm>
            <a:off x="2926080" y="2743200"/>
            <a:ext cx="50292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132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29000" y="2743200"/>
            <a:ext cx="2377440" cy="1371600"/>
          </a:xfrm>
          <a:prstGeom prst="roundRect">
            <a:avLst>
              <a:gd name="adj" fmla="val 6667"/>
            </a:avLst>
          </a:prstGeom>
          <a:solidFill>
            <a:srgbClr val="00A896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3520440" y="2743200"/>
            <a:ext cx="219456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Claude reads schema</a:t>
            </a:r>
            <a:endParaRPr lang="en-US" sz="1500" dirty="0"/>
          </a:p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&amp; writes SQL</a:t>
            </a:r>
            <a:endParaRPr lang="en-US" sz="1500" dirty="0"/>
          </a:p>
        </p:txBody>
      </p:sp>
      <p:sp>
        <p:nvSpPr>
          <p:cNvPr id="8" name="Text 6"/>
          <p:cNvSpPr txBox="1"/>
          <p:nvPr/>
        </p:nvSpPr>
        <p:spPr>
          <a:xfrm>
            <a:off x="5806440" y="2743200"/>
            <a:ext cx="50292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132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600" dirty="0"/>
          </a:p>
        </p:txBody>
      </p:sp>
      <p:sp>
        <p:nvSpPr>
          <p:cNvPr id="9" name="Shape 7"/>
          <p:cNvSpPr/>
          <p:nvPr/>
        </p:nvSpPr>
        <p:spPr>
          <a:xfrm>
            <a:off x="6309360" y="2743200"/>
            <a:ext cx="2377440" cy="1371600"/>
          </a:xfrm>
          <a:prstGeom prst="roundRect">
            <a:avLst>
              <a:gd name="adj" fmla="val 6667"/>
            </a:avLst>
          </a:prstGeom>
          <a:solidFill>
            <a:srgbClr val="02C39A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6400800" y="2743200"/>
            <a:ext cx="219456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Exasol Personal</a:t>
            </a:r>
            <a:endParaRPr lang="en-US" sz="1500" dirty="0"/>
          </a:p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executes query</a:t>
            </a:r>
            <a:endParaRPr lang="en-US" sz="1500" dirty="0"/>
          </a:p>
        </p:txBody>
      </p:sp>
      <p:sp>
        <p:nvSpPr>
          <p:cNvPr id="11" name="Text 9"/>
          <p:cNvSpPr txBox="1"/>
          <p:nvPr/>
        </p:nvSpPr>
        <p:spPr>
          <a:xfrm>
            <a:off x="8686800" y="2743200"/>
            <a:ext cx="50292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132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600" dirty="0"/>
          </a:p>
        </p:txBody>
      </p:sp>
      <p:sp>
        <p:nvSpPr>
          <p:cNvPr id="12" name="Shape 10"/>
          <p:cNvSpPr/>
          <p:nvPr/>
        </p:nvSpPr>
        <p:spPr>
          <a:xfrm>
            <a:off x="9189720" y="2743200"/>
            <a:ext cx="2377440" cy="1371600"/>
          </a:xfrm>
          <a:prstGeom prst="roundRect">
            <a:avLst>
              <a:gd name="adj" fmla="val 6667"/>
            </a:avLst>
          </a:prstGeom>
          <a:solidFill>
            <a:srgbClr val="028090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9281160" y="2743200"/>
            <a:ext cx="219456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Streamlit UI:</a:t>
            </a:r>
            <a:endParaRPr lang="en-US" sz="1500" dirty="0"/>
          </a:p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table + chart + alerts</a:t>
            </a:r>
            <a:endParaRPr lang="en-US" sz="1500" dirty="0"/>
          </a:p>
        </p:txBody>
      </p:sp>
      <p:sp>
        <p:nvSpPr>
          <p:cNvPr id="14" name="Text 12"/>
          <p:cNvSpPr txBox="1"/>
          <p:nvPr/>
        </p:nvSpPr>
        <p:spPr>
          <a:xfrm>
            <a:off x="548640" y="4663440"/>
            <a:ext cx="11064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4560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Guardrails: only single SELECT statements are ever executed; every query is row-limited.</a:t>
            </a:r>
            <a:endParaRPr lang="en-US" sz="13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B2E3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57200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4FAF9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Why Exasol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640080" y="1737360"/>
            <a:ext cx="822960" cy="822960"/>
          </a:xfrm>
          <a:prstGeom prst="ellipse">
            <a:avLst/>
          </a:prstGeom>
          <a:solidFill>
            <a:srgbClr val="02C39A"/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1737360"/>
            <a:ext cx="8229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52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⚡</a:t>
            </a:r>
            <a:endParaRPr lang="en-US" sz="2520" dirty="0"/>
          </a:p>
        </p:txBody>
      </p:sp>
      <p:sp>
        <p:nvSpPr>
          <p:cNvPr id="5" name="Text 3"/>
          <p:cNvSpPr txBox="1"/>
          <p:nvPr/>
        </p:nvSpPr>
        <p:spPr>
          <a:xfrm>
            <a:off x="1737360" y="1691640"/>
            <a:ext cx="9601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F4FA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In-memory, columnar speed</a:t>
            </a:r>
            <a:endParaRPr lang="en-US" sz="1900" dirty="0"/>
          </a:p>
        </p:txBody>
      </p:sp>
      <p:sp>
        <p:nvSpPr>
          <p:cNvPr id="6" name="Text 4"/>
          <p:cNvSpPr txBox="1"/>
          <p:nvPr/>
        </p:nvSpPr>
        <p:spPr>
          <a:xfrm>
            <a:off x="1737360" y="2121408"/>
            <a:ext cx="9601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9FD3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question re-queries raw data live — no pre-built dashboards or cached cubes needed.</a:t>
            </a:r>
            <a:endParaRPr lang="en-US" sz="1350" dirty="0"/>
          </a:p>
        </p:txBody>
      </p:sp>
      <p:sp>
        <p:nvSpPr>
          <p:cNvPr id="7" name="Shape 5"/>
          <p:cNvSpPr/>
          <p:nvPr/>
        </p:nvSpPr>
        <p:spPr>
          <a:xfrm>
            <a:off x="640080" y="3154680"/>
            <a:ext cx="822960" cy="822960"/>
          </a:xfrm>
          <a:prstGeom prst="ellipse">
            <a:avLst/>
          </a:prstGeom>
          <a:solidFill>
            <a:srgbClr val="02C39A"/>
          </a:solidFill>
          <a:ln/>
        </p:spPr>
      </p:sp>
      <p:sp>
        <p:nvSpPr>
          <p:cNvPr id="8" name="Text 6"/>
          <p:cNvSpPr/>
          <p:nvPr/>
        </p:nvSpPr>
        <p:spPr>
          <a:xfrm>
            <a:off x="640080" y="3154680"/>
            <a:ext cx="8229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52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🗂️</a:t>
            </a:r>
            <a:endParaRPr lang="en-US" sz="2520" dirty="0"/>
          </a:p>
        </p:txBody>
      </p:sp>
      <p:sp>
        <p:nvSpPr>
          <p:cNvPr id="9" name="Text 7"/>
          <p:cNvSpPr txBox="1"/>
          <p:nvPr/>
        </p:nvSpPr>
        <p:spPr>
          <a:xfrm>
            <a:off x="1737360" y="3108960"/>
            <a:ext cx="9601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F4FA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schema introspection</a:t>
            </a:r>
            <a:endParaRPr lang="en-US" sz="1900" dirty="0"/>
          </a:p>
        </p:txBody>
      </p:sp>
      <p:sp>
        <p:nvSpPr>
          <p:cNvPr id="10" name="Text 8"/>
          <p:cNvSpPr txBox="1"/>
          <p:nvPr/>
        </p:nvSpPr>
        <p:spPr>
          <a:xfrm>
            <a:off x="1737360" y="3538728"/>
            <a:ext cx="9601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9FD3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agent reads EXA_ALL_COLUMNS directly, so it always understands the current table shape.</a:t>
            </a:r>
            <a:endParaRPr lang="en-US" sz="1350" dirty="0"/>
          </a:p>
        </p:txBody>
      </p:sp>
      <p:sp>
        <p:nvSpPr>
          <p:cNvPr id="11" name="Shape 9"/>
          <p:cNvSpPr/>
          <p:nvPr/>
        </p:nvSpPr>
        <p:spPr>
          <a:xfrm>
            <a:off x="640080" y="4572000"/>
            <a:ext cx="822960" cy="822960"/>
          </a:xfrm>
          <a:prstGeom prst="ellipse">
            <a:avLst/>
          </a:prstGeom>
          <a:solidFill>
            <a:srgbClr val="02C39A"/>
          </a:solidFill>
          <a:ln/>
        </p:spPr>
      </p:sp>
      <p:sp>
        <p:nvSpPr>
          <p:cNvPr id="12" name="Text 10"/>
          <p:cNvSpPr/>
          <p:nvPr/>
        </p:nvSpPr>
        <p:spPr>
          <a:xfrm>
            <a:off x="640080" y="4572000"/>
            <a:ext cx="8229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52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📦</a:t>
            </a:r>
            <a:endParaRPr lang="en-US" sz="2520" dirty="0"/>
          </a:p>
        </p:txBody>
      </p:sp>
      <p:sp>
        <p:nvSpPr>
          <p:cNvPr id="13" name="Text 11"/>
          <p:cNvSpPr txBox="1"/>
          <p:nvPr/>
        </p:nvSpPr>
        <p:spPr>
          <a:xfrm>
            <a:off x="1737360" y="4526280"/>
            <a:ext cx="9601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F4FA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data movement</a:t>
            </a:r>
            <a:endParaRPr lang="en-US" sz="1900" dirty="0"/>
          </a:p>
        </p:txBody>
      </p:sp>
      <p:sp>
        <p:nvSpPr>
          <p:cNvPr id="14" name="Text 12"/>
          <p:cNvSpPr txBox="1"/>
          <p:nvPr/>
        </p:nvSpPr>
        <p:spPr>
          <a:xfrm>
            <a:off x="1737360" y="4956048"/>
            <a:ext cx="9601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9FD3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Aggregation happens inside Exasol; only the final result set is pulled into the app.</a:t>
            </a:r>
            <a:endParaRPr lang="en-US" sz="13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4FA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57200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3272A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Impact &amp; what's next</a:t>
            </a:r>
            <a:endParaRPr lang="en-US" sz="3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645920"/>
            <a:ext cx="27432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000" b="1" dirty="0">
                <a:solidFill>
                  <a:srgbClr val="028090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0</a:t>
            </a:r>
            <a:endParaRPr lang="en-US" sz="60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2606040"/>
            <a:ext cx="2743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4560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lines of SQL a user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4560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needs to write</a:t>
            </a:r>
            <a:endParaRPr lang="en-US" sz="13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3566160"/>
            <a:ext cx="27432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00A896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Live</a:t>
            </a:r>
            <a:endParaRPr lang="en-US" sz="440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4343400"/>
            <a:ext cx="2743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4560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queries against raw data,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4560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time — not cached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3657600" y="1645920"/>
            <a:ext cx="7955280" cy="4206240"/>
          </a:xfrm>
          <a:prstGeom prst="roundRect">
            <a:avLst>
              <a:gd name="adj" fmla="val 2609"/>
            </a:avLst>
          </a:prstGeom>
          <a:solidFill>
            <a:srgbClr val="FFFFFF"/>
          </a:solidFill>
          <a:ln w="12700">
            <a:solidFill>
              <a:srgbClr val="D6EFEC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4023360" y="187452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28090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Roadmap</a:t>
            </a:r>
            <a:endParaRPr lang="en-US" sz="1800" dirty="0"/>
          </a:p>
        </p:txBody>
      </p:sp>
      <p:sp>
        <p:nvSpPr>
          <p:cNvPr id="9" name="Text 7"/>
          <p:cNvSpPr txBox="1"/>
          <p:nvPr/>
        </p:nvSpPr>
        <p:spPr>
          <a:xfrm>
            <a:off x="4023360" y="2514600"/>
            <a:ext cx="365760" cy="365760"/>
          </a:xfrm>
          <a:prstGeom prst="rect">
            <a:avLst/>
          </a:prstGeom>
          <a:solidFill>
            <a:srgbClr val="02C39A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500" dirty="0"/>
          </a:p>
        </p:txBody>
      </p:sp>
      <p:sp>
        <p:nvSpPr>
          <p:cNvPr id="10" name="Text 8"/>
          <p:cNvSpPr txBox="1"/>
          <p:nvPr/>
        </p:nvSpPr>
        <p:spPr>
          <a:xfrm>
            <a:off x="4572000" y="2468880"/>
            <a:ext cx="67665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32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Move schema access to Exasol's MCP server for multi-table exploration</a:t>
            </a:r>
            <a:endParaRPr lang="en-US" sz="1400" dirty="0"/>
          </a:p>
        </p:txBody>
      </p:sp>
      <p:sp>
        <p:nvSpPr>
          <p:cNvPr id="11" name="Text 9"/>
          <p:cNvSpPr txBox="1"/>
          <p:nvPr/>
        </p:nvSpPr>
        <p:spPr>
          <a:xfrm>
            <a:off x="4023360" y="3291840"/>
            <a:ext cx="365760" cy="365760"/>
          </a:xfrm>
          <a:prstGeom prst="rect">
            <a:avLst/>
          </a:prstGeom>
          <a:solidFill>
            <a:srgbClr val="02C39A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5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0" y="3246120"/>
            <a:ext cx="67665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32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Let users save a generated query as a reusable "verified query"</a:t>
            </a:r>
            <a:endParaRPr lang="en-US" sz="1400" dirty="0"/>
          </a:p>
        </p:txBody>
      </p:sp>
      <p:sp>
        <p:nvSpPr>
          <p:cNvPr id="13" name="Text 11"/>
          <p:cNvSpPr txBox="1"/>
          <p:nvPr/>
        </p:nvSpPr>
        <p:spPr>
          <a:xfrm>
            <a:off x="4023360" y="4069080"/>
            <a:ext cx="365760" cy="365760"/>
          </a:xfrm>
          <a:prstGeom prst="rect">
            <a:avLst/>
          </a:prstGeom>
          <a:solidFill>
            <a:srgbClr val="02C39A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500" dirty="0"/>
          </a:p>
        </p:txBody>
      </p:sp>
      <p:sp>
        <p:nvSpPr>
          <p:cNvPr id="14" name="Text 12"/>
          <p:cNvSpPr txBox="1"/>
          <p:nvPr/>
        </p:nvSpPr>
        <p:spPr>
          <a:xfrm>
            <a:off x="4572000" y="4023360"/>
            <a:ext cx="67665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32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Row-level access control so the agent only sees permitted data</a:t>
            </a:r>
            <a:endParaRPr lang="en-US" sz="1400" dirty="0"/>
          </a:p>
        </p:txBody>
      </p:sp>
      <p:sp>
        <p:nvSpPr>
          <p:cNvPr id="15" name="Text 13"/>
          <p:cNvSpPr txBox="1"/>
          <p:nvPr/>
        </p:nvSpPr>
        <p:spPr>
          <a:xfrm>
            <a:off x="4023360" y="4846320"/>
            <a:ext cx="365760" cy="365760"/>
          </a:xfrm>
          <a:prstGeom prst="rect">
            <a:avLst/>
          </a:prstGeom>
          <a:solidFill>
            <a:srgbClr val="02C39A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500" dirty="0"/>
          </a:p>
        </p:txBody>
      </p:sp>
      <p:sp>
        <p:nvSpPr>
          <p:cNvPr id="16" name="Text 14"/>
          <p:cNvSpPr txBox="1"/>
          <p:nvPr/>
        </p:nvSpPr>
        <p:spPr>
          <a:xfrm>
            <a:off x="4572000" y="4800600"/>
            <a:ext cx="67665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32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Scheduled anomaly digests delivered proactively, not just on-demand</a:t>
            </a: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6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2026-09-13T05:59:55Z</dcterms:created>
  <dcterms:modified xsi:type="dcterms:W3CDTF">2026-09-13T05:59:55Z</dcterms:modified>
</cp:coreProperties>
</file>